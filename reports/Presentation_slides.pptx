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0" d="100"/>
          <a:sy n="80" d="100"/>
        </p:scale>
        <p:origin x="112" y="-4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4468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~1 minute. Open with the Kenyan problem. This is a proof of concept, not a replacement for laboratory professionals.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~1.5 minutes. State dataset size and binary classes. Explain why EfficientNetB0 fits image classification and mention LR + HOG as the baseline. No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~2 minutes. Present recall 77.50% as primary metric, F1 63.10% as secondary, and baseline AUC-ROC 92.38%. Do not claim EfficientNetB0 beat the baseline. Show the disaggregated table. The confusion matrix is TN=439, FP=939, FN=310, TP=1068.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~2 minutes. State the biggest limitation: no Kenyan clinical representation. Worst plausible outcome: a genuinely parasitized patient is classified as uninfected, potentially delaying treatment. Fairness criterion: Equal Opportunity. Current data does not support demographic fairness testing. Proposed monitoring: monthly; investigate/retrain below 80% parasitized recall; withdraw below 70%. These are proposed POC safety thresholds, not clinical standards.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~1 minute. Close with three plain-language findings. Concrete next step: partner with a Kenyan health/laboratory organisation to collect representative clinical images, validate prospectively and evaluate fairness. End with: “The goal is not to replace the expert; it is to build a safer, explainable decision-support tool.”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C91F8"/>
                </a:solidFill>
                <a:latin typeface="Aptos"/>
              </a:rPr>
              <a:t>NGAO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20040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PROBLEM &amp;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20040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694944"/>
            <a:ext cx="10945368" cy="0"/>
          </a:xfrm>
          <a:prstGeom prst="line">
            <a:avLst/>
          </a:prstGeom>
          <a:ln w="8890">
            <a:solidFill>
              <a:srgbClr val="3949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1051560"/>
            <a:ext cx="64008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AFBFD"/>
                </a:solidFill>
                <a:latin typeface="Aptos"/>
              </a:rPr>
              <a:t>Can a microscopic image
become an AI-assisted
malaria screening signal?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27355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C91F8"/>
                </a:solidFill>
                <a:latin typeface="Aptos"/>
              </a:rPr>
              <a:t>KENYA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639312"/>
            <a:ext cx="5989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Aptos"/>
              </a:rPr>
              <a:t>Malaria remains an important Kenyan health challenge, while diagnosis depends on skilled examination of blood samples.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4892040"/>
            <a:ext cx="2971800" cy="914400"/>
          </a:xfrm>
          <a:prstGeom prst="roundRect">
            <a:avLst/>
          </a:prstGeom>
          <a:solidFill>
            <a:srgbClr val="101F35"/>
          </a:solidFill>
          <a:ln>
            <a:solidFill>
              <a:srgbClr val="3949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5084064"/>
            <a:ext cx="1234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AFBFD"/>
                </a:solidFill>
                <a:latin typeface="Aptos"/>
              </a:rPr>
              <a:t>27,558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93392" y="5029200"/>
            <a:ext cx="1234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BD5E1"/>
                </a:solidFill>
                <a:latin typeface="Aptos"/>
              </a:rPr>
              <a:t>labelled cell images
in the project dataset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115568"/>
            <a:ext cx="4224528" cy="4498848"/>
          </a:xfrm>
          <a:prstGeom prst="roundRect">
            <a:avLst/>
          </a:prstGeom>
          <a:solidFill>
            <a:srgbClr val="101F35"/>
          </a:solidFill>
          <a:ln>
            <a:solidFill>
              <a:srgbClr val="3949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62672" y="1444752"/>
            <a:ext cx="3520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5C91F8"/>
                </a:solidFill>
                <a:latin typeface="Aptos"/>
              </a:rPr>
              <a:t>KENYA → MICROSCOPY → 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3568" y="1993392"/>
            <a:ext cx="2880360" cy="658368"/>
          </a:xfrm>
          <a:prstGeom prst="roundRect">
            <a:avLst/>
          </a:prstGeom>
          <a:solidFill>
            <a:srgbClr val="16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73568" y="2185416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AFBFD"/>
                </a:solidFill>
                <a:latin typeface="Aptos"/>
              </a:rPr>
              <a:t>🇰🇪  KENYA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3090672"/>
            <a:ext cx="2880360" cy="658368"/>
          </a:xfrm>
          <a:prstGeom prst="roundRect">
            <a:avLst/>
          </a:prstGeom>
          <a:solidFill>
            <a:srgbClr val="162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73568" y="3282696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AFBFD"/>
                </a:solidFill>
                <a:latin typeface="Aptos"/>
              </a:rPr>
              <a:t>Blood-cell image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73568" y="4187952"/>
            <a:ext cx="2880360" cy="658368"/>
          </a:xfrm>
          <a:prstGeom prst="roundRect">
            <a:avLst/>
          </a:prstGeom>
          <a:solidFill>
            <a:srgbClr val="30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73568" y="4379976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AFBFD"/>
                </a:solidFill>
                <a:latin typeface="Aptos"/>
              </a:rPr>
              <a:t>AI-assisted signal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2288" y="274320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5C91F8"/>
                </a:solidFill>
                <a:latin typeface="Aptos"/>
              </a:rPr>
              <a:t>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2288" y="384048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5C91F8"/>
                </a:solidFill>
                <a:latin typeface="Aptos"/>
              </a:rPr>
              <a:t>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5148072"/>
            <a:ext cx="4114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Aptos"/>
              </a:rPr>
              <a:t>The goal is not to replace the laboratory professional — it is to test whether AI can add useful screening support.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C91F8"/>
                </a:solidFill>
                <a:latin typeface="Aptos"/>
              </a:rPr>
              <a:t>NGAO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20040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DATA &amp;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20040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694944"/>
            <a:ext cx="10945368" cy="0"/>
          </a:xfrm>
          <a:prstGeom prst="line">
            <a:avLst/>
          </a:prstGeom>
          <a:ln w="8890">
            <a:solidFill>
              <a:srgbClr val="3949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941832"/>
            <a:ext cx="7772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AFBFD"/>
                </a:solidFill>
                <a:latin typeface="Aptos"/>
              </a:rPr>
              <a:t>Data → Model → Deployable POC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5087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Aptos"/>
              </a:rPr>
              <a:t>No code. Just the decisions that matter.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2084831"/>
            <a:ext cx="3429000" cy="2423160"/>
          </a:xfrm>
          <a:prstGeom prst="roundRect">
            <a:avLst/>
          </a:prstGeom>
          <a:solidFill>
            <a:srgbClr val="101F35"/>
          </a:solidFill>
          <a:ln>
            <a:solidFill>
              <a:srgbClr val="3949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233172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C91F8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724912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AFBFD"/>
                </a:solidFill>
                <a:latin typeface="Aptos"/>
              </a:rPr>
              <a:t>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3154680"/>
            <a:ext cx="2926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  <a:latin typeface="Aptos"/>
              </a:rPr>
              <a:t>27,558 pre-segmented microscopic cell images
• Parasitized
• Uninfected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084831"/>
            <a:ext cx="3429000" cy="2423160"/>
          </a:xfrm>
          <a:prstGeom prst="roundRect">
            <a:avLst/>
          </a:prstGeom>
          <a:solidFill>
            <a:srgbClr val="101F35"/>
          </a:solidFill>
          <a:ln>
            <a:solidFill>
              <a:srgbClr val="3949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233172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C91F8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724912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AFBFD"/>
                </a:solidFill>
                <a:latin typeface="Aptos"/>
              </a:rPr>
              <a:t>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154680"/>
            <a:ext cx="2926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  <a:latin typeface="Aptos"/>
              </a:rPr>
              <a:t>EfficientNetB0
Appropriate for visual pattern recognition and transfer learning.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2084831"/>
            <a:ext cx="3429000" cy="2423160"/>
          </a:xfrm>
          <a:prstGeom prst="roundRect">
            <a:avLst/>
          </a:prstGeom>
          <a:solidFill>
            <a:srgbClr val="101F35"/>
          </a:solidFill>
          <a:ln>
            <a:solidFill>
              <a:srgbClr val="3949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76488" y="233172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C91F8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6488" y="2724912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AFBFD"/>
                </a:solidFill>
                <a:latin typeface="Aptos"/>
              </a:rPr>
              <a:t>POC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6488" y="3154680"/>
            <a:ext cx="2926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  <a:latin typeface="Aptos"/>
              </a:rPr>
              <a:t>FastAPI + Grad-CAM
Prediction, confidence and visual explanation.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4846320"/>
            <a:ext cx="10927080" cy="841248"/>
          </a:xfrm>
          <a:prstGeom prst="roundRect">
            <a:avLst/>
          </a:prstGeom>
          <a:solidFill>
            <a:srgbClr val="14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7824" y="509320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C91F8"/>
                </a:solidFill>
                <a:latin typeface="Aptos"/>
              </a:rPr>
              <a:t>BASELINE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5010912"/>
            <a:ext cx="3200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AFBFD"/>
                </a:solidFill>
                <a:latin typeface="Aptos"/>
              </a:rPr>
              <a:t>Logistic Regression + HOG 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5020056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  <a:latin typeface="Aptos"/>
              </a:rPr>
              <a:t>Classical image-feature benchmark used for comparison.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5980176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C91F8"/>
                </a:solidFill>
                <a:latin typeface="Aptos"/>
              </a:rPr>
              <a:t>WHY EFFICIENTNETB0?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48840" y="5943600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  <a:latin typeface="Aptos"/>
              </a:rPr>
              <a:t>It learns visual features directly from cell images and supports transfer learning.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06FED"/>
                </a:solidFill>
                <a:latin typeface="Aptos"/>
              </a:rPr>
              <a:t>NGAO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20040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20040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694944"/>
            <a:ext cx="10945368" cy="0"/>
          </a:xfrm>
          <a:prstGeom prst="line">
            <a:avLst/>
          </a:prstGeom>
          <a:ln w="8890">
            <a:solidFill>
              <a:srgbClr val="3949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914400"/>
            <a:ext cx="106070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B2636"/>
                </a:solidFill>
                <a:latin typeface="Aptos"/>
              </a:rPr>
              <a:t>The model shows a useful screening signal — but not clinical readiness.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664208"/>
            <a:ext cx="3337560" cy="1051560"/>
          </a:xfrm>
          <a:prstGeom prst="roundRect">
            <a:avLst/>
          </a:prstGeom>
          <a:solidFill>
            <a:srgbClr val="FAFBFD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" y="1856231"/>
            <a:ext cx="1097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PRIMARY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39112" y="1819656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700" b="1">
                <a:solidFill>
                  <a:srgbClr val="306FED"/>
                </a:solidFill>
                <a:latin typeface="Aptos"/>
              </a:rPr>
              <a:t>77.50%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221992"/>
            <a:ext cx="2834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B2636"/>
                </a:solidFill>
                <a:latin typeface="Aptos"/>
              </a:rPr>
              <a:t>Recall — Parasitized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664208"/>
            <a:ext cx="3337560" cy="1051560"/>
          </a:xfrm>
          <a:prstGeom prst="roundRect">
            <a:avLst/>
          </a:prstGeom>
          <a:solidFill>
            <a:srgbClr val="FAFBFD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9703" y="1856231"/>
            <a:ext cx="1097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SECONDARY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42431" y="1819656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700" b="1">
                <a:solidFill>
                  <a:srgbClr val="306FED"/>
                </a:solidFill>
                <a:latin typeface="Aptos"/>
              </a:rPr>
              <a:t>63.10%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3" y="2221992"/>
            <a:ext cx="2834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B2636"/>
                </a:solidFill>
                <a:latin typeface="Aptos"/>
              </a:rPr>
              <a:t>F1 — Parasitized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1" y="1664208"/>
            <a:ext cx="3337560" cy="1051560"/>
          </a:xfrm>
          <a:prstGeom prst="roundRect">
            <a:avLst/>
          </a:prstGeom>
          <a:solidFill>
            <a:srgbClr val="FAFBFD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93023" y="1856231"/>
            <a:ext cx="1097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BASELINE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45752" y="1819656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700" b="1">
                <a:solidFill>
                  <a:srgbClr val="1B2636"/>
                </a:solidFill>
                <a:latin typeface="Aptos"/>
              </a:rPr>
              <a:t>92.38%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3023" y="2221992"/>
            <a:ext cx="2834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B2636"/>
                </a:solidFill>
                <a:latin typeface="Aptos"/>
              </a:rPr>
              <a:t>AUC-ROC — LR + HOG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2971800"/>
            <a:ext cx="5577840" cy="2423160"/>
          </a:xfrm>
          <a:prstGeom prst="roundRect">
            <a:avLst/>
          </a:prstGeom>
          <a:solidFill>
            <a:srgbClr val="FAFBFD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9536" y="3218688"/>
            <a:ext cx="2926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306FED"/>
                </a:solidFill>
                <a:latin typeface="Aptos"/>
              </a:rPr>
              <a:t>DISAGGREGATED EVALUATION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361188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Subgroup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3611880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6512" y="3611880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Recall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38928" y="3611880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F1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59536" y="3886200"/>
            <a:ext cx="5056632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59536" y="4133087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B2636"/>
                </a:solidFill>
                <a:latin typeface="Aptos"/>
              </a:rPr>
              <a:t>Parasitized cells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4133087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dirty="0">
                <a:solidFill>
                  <a:srgbClr val="1B2636"/>
                </a:solidFill>
                <a:latin typeface="Aptos"/>
              </a:rPr>
              <a:t>13</a:t>
            </a:r>
            <a:r>
              <a:rPr lang="en-US" sz="900" b="1" dirty="0">
                <a:solidFill>
                  <a:srgbClr val="1B2636"/>
                </a:solidFill>
                <a:latin typeface="Aptos"/>
              </a:rPr>
              <a:t>,</a:t>
            </a:r>
            <a:r>
              <a:rPr sz="900" b="1" dirty="0">
                <a:solidFill>
                  <a:srgbClr val="1B2636"/>
                </a:solidFill>
                <a:latin typeface="Aptos"/>
              </a:rPr>
              <a:t>7</a:t>
            </a:r>
            <a:r>
              <a:rPr lang="en-US" sz="900" b="1" dirty="0">
                <a:solidFill>
                  <a:srgbClr val="1B2636"/>
                </a:solidFill>
                <a:latin typeface="Aptos"/>
              </a:rPr>
              <a:t>79</a:t>
            </a:r>
            <a:endParaRPr sz="900" b="1" dirty="0">
              <a:solidFill>
                <a:srgbClr val="1B2636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096512" y="4133087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B2636"/>
                </a:solidFill>
                <a:latin typeface="Aptos"/>
              </a:rPr>
              <a:t>0.7750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38928" y="4133087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B2636"/>
                </a:solidFill>
                <a:latin typeface="Aptos"/>
              </a:rPr>
              <a:t>0.6310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" y="4727448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B2636"/>
                </a:solidFill>
                <a:latin typeface="Aptos"/>
              </a:rPr>
              <a:t>Uninfected cells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63240" y="4727448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dirty="0">
                <a:solidFill>
                  <a:srgbClr val="1B2636"/>
                </a:solidFill>
                <a:latin typeface="Aptos"/>
              </a:rPr>
              <a:t>1</a:t>
            </a:r>
            <a:r>
              <a:rPr lang="en-US" sz="900" b="0" dirty="0">
                <a:solidFill>
                  <a:srgbClr val="1B2636"/>
                </a:solidFill>
                <a:latin typeface="Aptos"/>
              </a:rPr>
              <a:t>3,</a:t>
            </a:r>
            <a:r>
              <a:rPr sz="900" b="0" dirty="0">
                <a:solidFill>
                  <a:srgbClr val="1B2636"/>
                </a:solidFill>
                <a:latin typeface="Aptos"/>
              </a:rPr>
              <a:t>7</a:t>
            </a:r>
            <a:r>
              <a:rPr lang="en-US" sz="900" b="0" dirty="0">
                <a:solidFill>
                  <a:srgbClr val="1B2636"/>
                </a:solidFill>
                <a:latin typeface="Aptos"/>
              </a:rPr>
              <a:t>79</a:t>
            </a:r>
            <a:endParaRPr sz="900" b="0" dirty="0">
              <a:solidFill>
                <a:srgbClr val="1B2636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096512" y="4727448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B2636"/>
                </a:solidFill>
                <a:latin typeface="Aptos"/>
              </a:rPr>
              <a:t>0.3186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38928" y="4727448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B2636"/>
                </a:solidFill>
                <a:latin typeface="Aptos"/>
              </a:rPr>
              <a:t>0.4128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46520" y="2971800"/>
            <a:ext cx="5102352" cy="2423160"/>
          </a:xfrm>
          <a:prstGeom prst="roundRect">
            <a:avLst/>
          </a:prstGeom>
          <a:solidFill>
            <a:srgbClr val="1B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93408" y="3218688"/>
            <a:ext cx="4480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C91F8"/>
                </a:solidFill>
                <a:latin typeface="Aptos"/>
              </a:rPr>
              <a:t>MOST INFORMATIVE VISUAL: CONFUSION MATRIX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3575304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CBD5E1"/>
                </a:solidFill>
                <a:latin typeface="Aptos"/>
              </a:rPr>
              <a:t>Predicted 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28431" y="3767328"/>
            <a:ext cx="1051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AFBFD"/>
                </a:solidFill>
                <a:latin typeface="Aptos"/>
              </a:rPr>
              <a:t>Uninf.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00032" y="3767328"/>
            <a:ext cx="1051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AFBFD"/>
                </a:solidFill>
                <a:latin typeface="Aptos"/>
              </a:rPr>
              <a:t>Paras.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4160520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AFBFD"/>
                </a:solidFill>
                <a:latin typeface="Aptos"/>
              </a:rPr>
              <a:t>Uninf.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2280" y="473659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AFBFD"/>
                </a:solidFill>
                <a:latin typeface="Aptos"/>
              </a:rPr>
              <a:t>Paras.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73568" y="4041648"/>
            <a:ext cx="1234440" cy="475488"/>
          </a:xfrm>
          <a:prstGeom prst="roundRect">
            <a:avLst/>
          </a:prstGeom>
          <a:solidFill>
            <a:srgbClr val="E4E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973568" y="4169663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B2636"/>
                </a:solidFill>
                <a:latin typeface="Aptos"/>
              </a:rPr>
              <a:t>439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345168" y="4041648"/>
            <a:ext cx="1234440" cy="475488"/>
          </a:xfrm>
          <a:prstGeom prst="roundRect">
            <a:avLst/>
          </a:prstGeom>
          <a:solidFill>
            <a:srgbClr val="30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345168" y="4169663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AFBFD"/>
                </a:solidFill>
                <a:latin typeface="Aptos"/>
              </a:rPr>
              <a:t>939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973568" y="4617720"/>
            <a:ext cx="1234440" cy="475488"/>
          </a:xfrm>
          <a:prstGeom prst="roundRect">
            <a:avLst/>
          </a:prstGeom>
          <a:solidFill>
            <a:srgbClr val="E4E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973568" y="4745736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B2636"/>
                </a:solidFill>
                <a:latin typeface="Aptos"/>
              </a:rPr>
              <a:t>310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345168" y="4617720"/>
            <a:ext cx="1234440" cy="475488"/>
          </a:xfrm>
          <a:prstGeom prst="roundRect">
            <a:avLst/>
          </a:prstGeom>
          <a:solidFill>
            <a:srgbClr val="10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345168" y="4745736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AFBFD"/>
                </a:solidFill>
                <a:latin typeface="Aptos"/>
              </a:rPr>
              <a:t>1068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39712" y="5010912"/>
            <a:ext cx="437083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Aptos"/>
              </a:rPr>
              <a:t>Key finding: recall is stronger than overall accuracy, while false positives remain high.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C91F8"/>
                </a:solidFill>
                <a:latin typeface="Aptos"/>
              </a:rPr>
              <a:t>NGAO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20040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LIMITATIONS &amp; RESPONSIBLE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20040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694944"/>
            <a:ext cx="10945368" cy="0"/>
          </a:xfrm>
          <a:prstGeom prst="line">
            <a:avLst/>
          </a:prstGeom>
          <a:ln w="8890">
            <a:solidFill>
              <a:srgbClr val="3949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932688"/>
            <a:ext cx="10241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AFBFD"/>
                </a:solidFill>
                <a:latin typeface="Aptos"/>
              </a:rPr>
              <a:t>Professional integrity starts with what the model cannot 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719072"/>
            <a:ext cx="5212080" cy="1463040"/>
          </a:xfrm>
          <a:prstGeom prst="roundRect">
            <a:avLst/>
          </a:prstGeom>
          <a:solidFill>
            <a:srgbClr val="101F35"/>
          </a:solidFill>
          <a:ln>
            <a:solidFill>
              <a:srgbClr val="3949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2926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C91F8"/>
                </a:solidFill>
                <a:latin typeface="Aptos"/>
              </a:rPr>
              <a:t>MOST SIGNIFICANT LIMITATION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322576"/>
            <a:ext cx="4343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AFBFD"/>
                </a:solidFill>
                <a:latin typeface="Aptos"/>
              </a:rPr>
              <a:t>The dataset is not Kenyan clinical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697480"/>
            <a:ext cx="4434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  <a:latin typeface="Aptos"/>
              </a:rPr>
              <a:t>It may not represent Kenyan patients, facilities, microscopes or real workflows.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719072"/>
            <a:ext cx="5394960" cy="1463040"/>
          </a:xfrm>
          <a:prstGeom prst="roundRect">
            <a:avLst/>
          </a:prstGeom>
          <a:solidFill>
            <a:srgbClr val="101F35"/>
          </a:solidFill>
          <a:ln>
            <a:solidFill>
              <a:srgbClr val="3949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965960"/>
            <a:ext cx="2103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C91F8"/>
                </a:solidFill>
                <a:latin typeface="Aptos"/>
              </a:rPr>
              <a:t>WHO CAN BE HARMED?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22576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AFBFD"/>
                </a:solidFill>
                <a:latin typeface="Aptos"/>
              </a:rPr>
              <a:t>Patients — especially if a parasitized case is missed.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9748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  <a:latin typeface="Aptos"/>
              </a:rPr>
              <a:t>310 parasitized cells were false negatives in this test set.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493008"/>
            <a:ext cx="6446520" cy="1874519"/>
          </a:xfrm>
          <a:prstGeom prst="roundRect">
            <a:avLst/>
          </a:prstGeom>
          <a:solidFill>
            <a:srgbClr val="112239"/>
          </a:solidFill>
          <a:ln>
            <a:solidFill>
              <a:srgbClr val="3949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" y="3749039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C91F8"/>
                </a:solidFill>
                <a:latin typeface="Aptos"/>
              </a:rPr>
              <a:t>FAIRNESS CRITERION • EQUAL OPPORTUNITY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133087"/>
            <a:ext cx="54406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  <a:latin typeface="Aptos"/>
              </a:rPr>
              <a:t>For screening, the critical fairness concern is comparable ability to identify genuinely parasitized cases. Equal Opportunity focuses on comparable true-positive rates across groups.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489204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F59E0B"/>
                </a:solidFill>
                <a:latin typeface="Aptos"/>
              </a:rPr>
              <a:t>Current constraint: available data lacks the Kenyan demographic/geographic metadata needed for demographic fairness testing.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96912" y="3493008"/>
            <a:ext cx="4242816" cy="1874519"/>
          </a:xfrm>
          <a:prstGeom prst="roundRect">
            <a:avLst/>
          </a:prstGeom>
          <a:solidFill>
            <a:srgbClr val="14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62088" y="3749039"/>
            <a:ext cx="3017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C91F8"/>
                </a:solidFill>
                <a:latin typeface="Aptos"/>
              </a:rPr>
              <a:t>RESPONSIBLE DEPLOYMENT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62088" y="4133087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FAFBFD"/>
                </a:solidFill>
                <a:latin typeface="Aptos"/>
              </a:rPr>
              <a:t>• Human review remains mandatory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62088" y="4498848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FAFBFD"/>
                </a:solidFill>
                <a:latin typeface="Aptos"/>
              </a:rPr>
              <a:t>• Monthly monitoring: recall + subgroup performance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2088" y="4864607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F59E0B"/>
                </a:solidFill>
                <a:latin typeface="Aptos"/>
              </a:rPr>
              <a:t>• Retrain below 80% recall; withdraw below 70%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C91F8"/>
                </a:solidFill>
                <a:latin typeface="Aptos"/>
              </a:rPr>
              <a:t>NGAO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320040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CONCLUSIONS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20040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694944"/>
            <a:ext cx="10945368" cy="0"/>
          </a:xfrm>
          <a:prstGeom prst="line">
            <a:avLst/>
          </a:prstGeom>
          <a:ln w="8890">
            <a:solidFill>
              <a:srgbClr val="3949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960120"/>
            <a:ext cx="6583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AFBFD"/>
                </a:solidFill>
                <a:latin typeface="Aptos"/>
              </a:rPr>
              <a:t>Three things we learned.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53619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Aptos"/>
              </a:rPr>
              <a:t>Plain language — no metric overload.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2084831"/>
            <a:ext cx="6537960" cy="877824"/>
          </a:xfrm>
          <a:prstGeom prst="roundRect">
            <a:avLst/>
          </a:prstGeom>
          <a:solidFill>
            <a:srgbClr val="101F35"/>
          </a:solidFill>
          <a:ln>
            <a:solidFill>
              <a:srgbClr val="3949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31343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C91F8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240279"/>
            <a:ext cx="5394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AFBFD"/>
                </a:solidFill>
                <a:latin typeface="Aptos"/>
              </a:rPr>
              <a:t>AI can extract useful visual signals from blood-cell images.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542032"/>
            <a:ext cx="5394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>
                <a:solidFill>
                  <a:srgbClr val="CBD5E1"/>
                </a:solidFill>
                <a:latin typeface="Aptos"/>
              </a:rPr>
              <a:t>The POC turns an image into a prediction and an explanation.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3182111"/>
            <a:ext cx="6537960" cy="877824"/>
          </a:xfrm>
          <a:prstGeom prst="roundRect">
            <a:avLst/>
          </a:prstGeom>
          <a:solidFill>
            <a:srgbClr val="101F35"/>
          </a:solidFill>
          <a:ln>
            <a:solidFill>
              <a:srgbClr val="3949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410711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C91F8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337559"/>
            <a:ext cx="5394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AFBFD"/>
                </a:solidFill>
                <a:latin typeface="Aptos"/>
              </a:rPr>
              <a:t>Performance is uneven across the two classes.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639311"/>
            <a:ext cx="5394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>
                <a:solidFill>
                  <a:srgbClr val="CBD5E1"/>
                </a:solidFill>
                <a:latin typeface="Aptos"/>
              </a:rPr>
              <a:t>The model is better at finding parasitized cells than recognizing uninfected cells.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279392"/>
            <a:ext cx="6537960" cy="877824"/>
          </a:xfrm>
          <a:prstGeom prst="roundRect">
            <a:avLst/>
          </a:prstGeom>
          <a:solidFill>
            <a:srgbClr val="101F35"/>
          </a:solidFill>
          <a:ln>
            <a:solidFill>
              <a:srgbClr val="3949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50799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C91F8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434840"/>
            <a:ext cx="5394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AFBFD"/>
                </a:solidFill>
                <a:latin typeface="Aptos"/>
              </a:rPr>
              <a:t>A working demo is not the same as clinical readiness.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736592"/>
            <a:ext cx="5394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>
                <a:solidFill>
                  <a:srgbClr val="CBD5E1"/>
                </a:solidFill>
                <a:latin typeface="Aptos"/>
              </a:rPr>
              <a:t>Real deployment requires representative data, human oversight and continuous validation.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71231" y="2084831"/>
            <a:ext cx="3968496" cy="3246120"/>
          </a:xfrm>
          <a:prstGeom prst="roundRect">
            <a:avLst/>
          </a:prstGeom>
          <a:solidFill>
            <a:srgbClr val="30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82127" y="242316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AFBFD"/>
                </a:solidFill>
                <a:latin typeface="Aptos"/>
              </a:rPr>
              <a:t>SECOND PHASE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2127" y="2816352"/>
            <a:ext cx="3246120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FAFBFD"/>
                </a:solidFill>
                <a:latin typeface="Aptos"/>
              </a:rPr>
              <a:t>Validate with
Kenyan clinical data.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82127" y="3886200"/>
            <a:ext cx="3154680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AFBFD"/>
                </a:solidFill>
                <a:latin typeface="Aptos"/>
              </a:rPr>
              <a:t>Partner with a Kenyan health or laboratory organisation to collect representative images, validate prospectively, and test fairness across relevant settings.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559612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C91F8"/>
                </a:solidFill>
                <a:latin typeface="Aptos"/>
              </a:rPr>
              <a:t>THE GOAL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5541264"/>
            <a:ext cx="8823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AFBFD"/>
                </a:solidFill>
                <a:latin typeface="Aptos"/>
              </a:rPr>
              <a:t>Not “replace the expert.”  →  Build a safer, explainable decision-support tool.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789</Words>
  <Application>Microsoft Office PowerPoint</Application>
  <PresentationFormat>Widescreen</PresentationFormat>
  <Paragraphs>112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ONDIEKI MARASI KEPHA</cp:lastModifiedBy>
  <cp:revision>2</cp:revision>
  <dcterms:created xsi:type="dcterms:W3CDTF">2013-01-27T09:14:16Z</dcterms:created>
  <dcterms:modified xsi:type="dcterms:W3CDTF">2026-08-11T20:21:52Z</dcterms:modified>
  <cp:category/>
</cp:coreProperties>
</file>